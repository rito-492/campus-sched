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6" r:id="rId3"/>
    <p:sldId id="266" r:id="rId5"/>
    <p:sldId id="267" r:id="rId6"/>
    <p:sldId id="268" r:id="rId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09"/>
    <p:restoredTop sz="93710"/>
  </p:normalViewPr>
  <p:slideViewPr>
    <p:cSldViewPr showGuides="1">
      <p:cViewPr varScale="1">
        <p:scale>
          <a:sx n="89" d="100"/>
          <a:sy n="89" d="100"/>
        </p:scale>
        <p:origin x="-1070" y="-58"/>
      </p:cViewPr>
      <p:guideLst>
        <p:guide orient="horz" pos="2160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8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8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8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0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0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0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0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</a:rPr>
            </a:fld>
            <a:endParaRPr lang="en-US" altLang="zh-CN" sz="1800" dirty="0">
              <a:latin typeface="Arial" panose="020B0604020202020204" pitchFamily="34" charset="0"/>
            </a:endParaRPr>
          </a:p>
        </p:txBody>
      </p:sp>
      <p:sp>
        <p:nvSpPr>
          <p:cNvPr id="6146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194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/>
          <p:cNvSpPr>
            <a:spLocks noChangeArrowheads="1"/>
          </p:cNvSpPr>
          <p:nvPr/>
        </p:nvSpPr>
        <p:spPr bwMode="auto">
          <a:xfrm>
            <a:off x="228600" y="381000"/>
            <a:ext cx="8686800" cy="5638800"/>
          </a:xfrm>
          <a:prstGeom prst="roundRect">
            <a:avLst>
              <a:gd name="adj" fmla="val 7912"/>
            </a:avLst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white">
          <a:xfrm>
            <a:off x="304800" y="457200"/>
            <a:ext cx="8534400" cy="548640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0709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857250"/>
            <a:ext cx="7772400" cy="2266950"/>
          </a:xfrm>
        </p:spPr>
        <p:txBody>
          <a:bodyPr anchor="ctr" anchorCtr="1"/>
          <a:lstStyle>
            <a:lvl1pPr algn="ctr">
              <a:defRPr sz="49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391275"/>
            <a:ext cx="2057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91275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391275"/>
            <a:ext cx="1600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ct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295400"/>
            <a:ext cx="37719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295400"/>
            <a:ext cx="37719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34150" y="447675"/>
            <a:ext cx="1924050" cy="54959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447675"/>
            <a:ext cx="5619750" cy="54959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762000" y="447675"/>
            <a:ext cx="76962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762000" y="1295400"/>
            <a:ext cx="7696200" cy="4648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996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391275"/>
            <a:ext cx="2057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96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03975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96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31" name="AutoShape 8"/>
          <p:cNvSpPr>
            <a:spLocks noChangeArrowheads="1"/>
          </p:cNvSpPr>
          <p:nvPr/>
        </p:nvSpPr>
        <p:spPr bwMode="auto">
          <a:xfrm>
            <a:off x="168275" y="228600"/>
            <a:ext cx="8823325" cy="6096000"/>
          </a:xfrm>
          <a:prstGeom prst="roundRect">
            <a:avLst>
              <a:gd name="adj" fmla="val 11046"/>
            </a:avLst>
          </a:prstGeom>
          <a:noFill/>
          <a:ln w="3175" cap="rnd">
            <a:solidFill>
              <a:srgbClr val="0000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Line 9"/>
          <p:cNvSpPr/>
          <p:nvPr/>
        </p:nvSpPr>
        <p:spPr>
          <a:xfrm>
            <a:off x="762000" y="1219200"/>
            <a:ext cx="7696200" cy="0"/>
          </a:xfrm>
          <a:prstGeom prst="line">
            <a:avLst/>
          </a:prstGeom>
          <a:ln w="3175" cap="rnd" cmpd="sng">
            <a:solidFill>
              <a:srgbClr val="000000"/>
            </a:solidFill>
            <a:prstDash val="sysDot"/>
            <a:round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l"/>
        <a:defRPr sz="31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Ø"/>
        <a:defRPr sz="26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50000"/>
        <a:buChar char="•"/>
        <a:defRPr sz="22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50000"/>
        <a:buChar char="•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ctrTitle"/>
          </p:nvPr>
        </p:nvSpPr>
        <p:spPr>
          <a:xfrm>
            <a:off x="685800" y="1752600"/>
            <a:ext cx="7772400" cy="2266950"/>
          </a:xfrm>
          <a:ln/>
        </p:spPr>
        <p:txBody>
          <a:bodyPr vert="horz" wrap="square" lIns="91440" tIns="45720" rIns="91440" bIns="45720" anchor="ctr" anchorCtr="1"/>
          <a:p>
            <a:pPr eaLnBrk="1" hangingPunct="1">
              <a:buClrTx/>
              <a:buSzTx/>
              <a:buFontTx/>
            </a:pP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+mj-cs"/>
              </a:rPr>
              <a:t>课下任务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+mj-cs"/>
              </a:rPr>
              <a:t>2</a:t>
            </a:r>
            <a:endParaRPr lang="en-US" altLang="zh-CN" sz="4800" dirty="0"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762000" y="762000"/>
            <a:ext cx="7772400" cy="13658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</a:pPr>
            <a:r>
              <a:rPr lang="zh-CN" altLang="en-US" sz="4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软件工程案例分析与实践</a:t>
            </a:r>
            <a:endParaRPr lang="zh-CN" altLang="en-US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灯片编号占位符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课下任务</a:t>
            </a:r>
            <a:endParaRPr lang="zh-CN" altLang="en-US" dirty="0"/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xfrm>
            <a:off x="762000" y="1295400"/>
            <a:ext cx="4798695" cy="5029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dirty="0"/>
              <a:t>开发软件测试计划</a:t>
            </a:r>
            <a:endParaRPr lang="zh-CN" altLang="en-US" sz="2400" dirty="0"/>
          </a:p>
          <a:p>
            <a:pPr lvl="1"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000" dirty="0"/>
              <a:t>负责人：测试经理</a:t>
            </a:r>
            <a:endParaRPr lang="zh-CN" altLang="en-US" sz="2000" dirty="0"/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dirty="0"/>
              <a:t>开发配置管理计划</a:t>
            </a:r>
            <a:endParaRPr lang="zh-CN" altLang="en-US" sz="2400" dirty="0"/>
          </a:p>
          <a:p>
            <a:pPr lvl="1"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000" dirty="0"/>
              <a:t>负责人：配置经理</a:t>
            </a:r>
            <a:endParaRPr lang="zh-CN" altLang="en-US" sz="2000" dirty="0"/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dirty="0"/>
              <a:t>建立配置库</a:t>
            </a:r>
            <a:endParaRPr lang="zh-CN" altLang="en-US" sz="2400" dirty="0"/>
          </a:p>
          <a:p>
            <a:pPr lvl="1"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000" dirty="0"/>
              <a:t>建立产品目录结构</a:t>
            </a:r>
            <a:endParaRPr lang="zh-CN" altLang="en-US" sz="2000" dirty="0"/>
          </a:p>
          <a:p>
            <a:pPr lvl="1"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000" dirty="0"/>
              <a:t>将项目产生的相关文档放入配置库</a:t>
            </a:r>
            <a:endParaRPr lang="zh-CN" altLang="en-US" sz="2000" dirty="0"/>
          </a:p>
          <a:p>
            <a:pPr lvl="1"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000" dirty="0"/>
              <a:t>对已通过评审的产品标识基线</a:t>
            </a:r>
            <a:endParaRPr lang="zh-CN" altLang="en-US" sz="20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2200" dirty="0"/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4876800" y="1219200"/>
            <a:ext cx="3524885" cy="26428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l"/>
              <a:defRPr sz="31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800" dirty="0"/>
              <a:t>提交工件（</a:t>
            </a:r>
            <a:r>
              <a:rPr lang="en-US" altLang="zh-CN" sz="2800" dirty="0">
                <a:solidFill>
                  <a:srgbClr val="FF0000"/>
                </a:solidFill>
              </a:rPr>
              <a:t>10</a:t>
            </a:r>
            <a:r>
              <a:rPr lang="zh-CN" altLang="en-US" sz="2800" dirty="0">
                <a:solidFill>
                  <a:srgbClr val="FF0000"/>
                </a:solidFill>
              </a:rPr>
              <a:t>月</a:t>
            </a:r>
            <a:r>
              <a:rPr lang="en-US" altLang="zh-CN" sz="2800" dirty="0">
                <a:solidFill>
                  <a:srgbClr val="FF0000"/>
                </a:solidFill>
              </a:rPr>
              <a:t>22</a:t>
            </a:r>
            <a:r>
              <a:rPr lang="zh-CN" altLang="en-US" sz="2800" dirty="0">
                <a:solidFill>
                  <a:srgbClr val="FF0000"/>
                </a:solidFill>
              </a:rPr>
              <a:t>日</a:t>
            </a:r>
            <a:r>
              <a:rPr lang="en-US" altLang="zh-CN" sz="2800" dirty="0">
                <a:solidFill>
                  <a:srgbClr val="FF0000"/>
                </a:solidFill>
              </a:rPr>
              <a:t>20:00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lvl="1"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200" dirty="0"/>
              <a:t>软件测试计划</a:t>
            </a:r>
            <a:endParaRPr lang="zh-CN" altLang="en-US" sz="2200" dirty="0"/>
          </a:p>
          <a:p>
            <a:pPr lvl="1"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200" dirty="0"/>
              <a:t>配置管理计划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灯片编号占位符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18" name="Rectangle 102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软件测试计划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检查表（</a:t>
            </a:r>
            <a:r>
              <a:rPr lang="en-US" altLang="zh-CN" dirty="0"/>
              <a:t>checklist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9219" name="Rectangle 1027"/>
          <p:cNvSpPr>
            <a:spLocks noGrp="1"/>
          </p:cNvSpPr>
          <p:nvPr>
            <p:ph idx="1"/>
          </p:nvPr>
        </p:nvSpPr>
        <p:spPr>
          <a:xfrm>
            <a:off x="361950" y="1295400"/>
            <a:ext cx="8706485" cy="464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dirty="0"/>
              <a:t>测试范围中测试的阶段和类型（</a:t>
            </a:r>
            <a:r>
              <a:rPr lang="en-US" altLang="zh-CN" sz="2400" dirty="0"/>
              <a:t>-0.1</a:t>
            </a:r>
            <a:r>
              <a:rPr lang="zh-CN" altLang="en-US" sz="2400" dirty="0"/>
              <a:t>） </a:t>
            </a:r>
            <a:endParaRPr lang="zh-CN" altLang="en-US" sz="2400" dirty="0"/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dirty="0"/>
              <a:t>项目核实中列出制定测试计划使用的文档（</a:t>
            </a:r>
            <a:r>
              <a:rPr lang="en-US" altLang="zh-CN" sz="2400" dirty="0"/>
              <a:t>-0.1</a:t>
            </a:r>
            <a:r>
              <a:rPr lang="zh-CN" altLang="en-US" sz="2400" dirty="0"/>
              <a:t>）   </a:t>
            </a:r>
            <a:endParaRPr lang="zh-CN" altLang="en-US" sz="2400" dirty="0"/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dirty="0"/>
              <a:t>测试需求能够覆盖用例或补充规范中规定的项目需求，且包括：用户界面测试、性能评测、访问控制测试、安装测试（</a:t>
            </a:r>
            <a:r>
              <a:rPr lang="en-US" altLang="zh-CN" sz="2400" dirty="0"/>
              <a:t>-0.8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dirty="0"/>
              <a:t>提供了相应的测试策略说明（</a:t>
            </a:r>
            <a:r>
              <a:rPr lang="en-US" altLang="zh-CN" sz="2400" dirty="0"/>
              <a:t>-0.2</a:t>
            </a:r>
            <a:r>
              <a:rPr lang="zh-CN" altLang="en-US" sz="2400" dirty="0"/>
              <a:t>）   </a:t>
            </a:r>
            <a:endParaRPr lang="zh-CN" altLang="en-US" sz="2400" dirty="0"/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dirty="0"/>
              <a:t>资源计划合理：包括硬件、软件和人员（</a:t>
            </a:r>
            <a:r>
              <a:rPr lang="en-US" altLang="zh-CN" sz="2400" dirty="0"/>
              <a:t>-0.4</a:t>
            </a:r>
            <a:r>
              <a:rPr lang="zh-CN" altLang="en-US" sz="2400" dirty="0"/>
              <a:t>） </a:t>
            </a:r>
            <a:endParaRPr lang="zh-CN" altLang="en-US" sz="2400" dirty="0"/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dirty="0"/>
              <a:t>测试活动相关里程碑明确（</a:t>
            </a:r>
            <a:r>
              <a:rPr lang="en-US" altLang="zh-CN" sz="2400" dirty="0"/>
              <a:t>-0.2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dirty="0"/>
              <a:t>可交付工件明确（</a:t>
            </a:r>
            <a:r>
              <a:rPr lang="en-US" altLang="zh-CN" sz="2400" dirty="0"/>
              <a:t>-0.2</a:t>
            </a:r>
            <a:r>
              <a:rPr lang="zh-CN" altLang="en-US" sz="2400" dirty="0"/>
              <a:t>）</a:t>
            </a:r>
            <a:r>
              <a:rPr lang="zh-CN" altLang="en-US" sz="2800" dirty="0"/>
              <a:t> 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灯片编号占位符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配置管理计划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检查表（</a:t>
            </a:r>
            <a:r>
              <a:rPr lang="en-US" altLang="zh-CN" dirty="0"/>
              <a:t>checklist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600"/>
              </a:spcAft>
            </a:pPr>
            <a:r>
              <a:rPr lang="zh-CN" altLang="en-US" sz="2800" dirty="0"/>
              <a:t>组织、职责和接口中明确了配置管理活动的负责人（</a:t>
            </a:r>
            <a:r>
              <a:rPr lang="en-US" altLang="zh-CN" sz="2800" dirty="0"/>
              <a:t>-0.2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600"/>
              </a:spcAft>
            </a:pPr>
            <a:r>
              <a:rPr lang="zh-CN" altLang="en-US" sz="2800" dirty="0"/>
              <a:t>工具、环境和基础设施中规定了产品目录结构（</a:t>
            </a:r>
            <a:r>
              <a:rPr lang="en-US" altLang="zh-CN" sz="2800" dirty="0"/>
              <a:t>-0.6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600"/>
              </a:spcAft>
            </a:pPr>
            <a:r>
              <a:rPr lang="zh-CN" altLang="en-US" sz="2800" dirty="0"/>
              <a:t>说明了配置标识方法（</a:t>
            </a:r>
            <a:r>
              <a:rPr lang="en-US" altLang="zh-CN" sz="2800" dirty="0"/>
              <a:t>-0.6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600"/>
              </a:spcAft>
            </a:pPr>
            <a:r>
              <a:rPr lang="zh-CN" altLang="en-US" sz="2800" dirty="0"/>
              <a:t>说明了基线建立的时机，并明确由谁授权建立基线（</a:t>
            </a:r>
            <a:r>
              <a:rPr lang="en-US" altLang="zh-CN" sz="2800" dirty="0"/>
              <a:t>-0.4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Studio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Studio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Studio</Template>
  <TotalTime>0</TotalTime>
  <Words>446</Words>
  <Application>WPS 演示</Application>
  <PresentationFormat>全屏显示(4:3)</PresentationFormat>
  <Paragraphs>44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Arial Black</vt:lpstr>
      <vt:lpstr>Times New Roman</vt:lpstr>
      <vt:lpstr>微软雅黑</vt:lpstr>
      <vt:lpstr>Arial Unicode MS</vt:lpstr>
      <vt:lpstr>Calibri</vt:lpstr>
      <vt:lpstr>Wingdings</vt:lpstr>
      <vt:lpstr>Studio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Fancy</cp:lastModifiedBy>
  <cp:revision>266</cp:revision>
  <dcterms:created xsi:type="dcterms:W3CDTF">2025-08-19T07:52:09Z</dcterms:created>
  <dcterms:modified xsi:type="dcterms:W3CDTF">2026-08-17T12:44:51Z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ICV">
    <vt:lpwstr>06CC55CE5E104E71A2E828B0F0080ECF_12</vt:lpwstr>
  </property>
  <property fmtid="{D5CDD505-2E9C-101B-9397-08002B2CF9AE}" pid="4" name="KSOProductBuildVer">
    <vt:lpwstr>2052-12.1.0.28043</vt:lpwstr>
  </property>
</Properties>
</file>