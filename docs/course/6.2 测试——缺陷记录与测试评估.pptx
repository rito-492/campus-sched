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27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00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0"/>
    <p:restoredTop sz="93591"/>
  </p:normalViewPr>
  <p:slideViewPr>
    <p:cSldViewPr showGuides="1">
      <p:cViewPr varScale="1">
        <p:scale>
          <a:sx n="75" d="100"/>
          <a:sy n="75" d="100"/>
        </p:scale>
        <p:origin x="-1020" y="-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8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8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8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0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30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0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0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536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638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741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843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945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048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150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253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355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457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560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/>
          <p:cNvSpPr/>
          <p:nvPr/>
        </p:nvSpPr>
        <p:spPr>
          <a:xfrm>
            <a:off x="228600" y="381000"/>
            <a:ext cx="8686800" cy="5638800"/>
          </a:xfrm>
          <a:prstGeom prst="roundRect">
            <a:avLst>
              <a:gd name="adj" fmla="val 7912"/>
            </a:avLst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lvl="0" algn="ctr" eaLnBrk="1" hangingPunct="1">
              <a:buNone/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051" name="AutoShape 3"/>
          <p:cNvSpPr/>
          <p:nvPr/>
        </p:nvSpPr>
        <p:spPr>
          <a:xfrm>
            <a:off x="304800" y="457200"/>
            <a:ext cx="8534400" cy="5486400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algn="ctr" eaLnBrk="1" hangingPunct="1">
              <a:buNone/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00709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857250"/>
            <a:ext cx="7772400" cy="2266950"/>
          </a:xfrm>
        </p:spPr>
        <p:txBody>
          <a:bodyPr anchor="ctr" anchorCtr="1"/>
          <a:lstStyle>
            <a:lvl1pPr algn="ctr">
              <a:defRPr sz="49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0710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3657600"/>
            <a:ext cx="5410200" cy="19050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sz="33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0" y="6391275"/>
            <a:ext cx="20574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91275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391275"/>
            <a:ext cx="16002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ct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295400"/>
            <a:ext cx="37719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295400"/>
            <a:ext cx="37719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34150" y="447675"/>
            <a:ext cx="1924050" cy="54959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447675"/>
            <a:ext cx="5619750" cy="54959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447675"/>
            <a:ext cx="7696200" cy="609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62000" y="1295400"/>
            <a:ext cx="7696200" cy="2247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62000" y="3695700"/>
            <a:ext cx="7696200" cy="2247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447675"/>
            <a:ext cx="7696200" cy="609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62000" y="1295400"/>
            <a:ext cx="76962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zh-CN" altLang="en-US" sz="31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762000" y="447675"/>
            <a:ext cx="76962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762000" y="1295400"/>
            <a:ext cx="7696200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996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0" y="6391275"/>
            <a:ext cx="2057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96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03975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96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031" name="AutoShape 8"/>
          <p:cNvSpPr/>
          <p:nvPr/>
        </p:nvSpPr>
        <p:spPr>
          <a:xfrm>
            <a:off x="168275" y="228600"/>
            <a:ext cx="8823325" cy="6096000"/>
          </a:xfrm>
          <a:prstGeom prst="roundRect">
            <a:avLst>
              <a:gd name="adj" fmla="val 11046"/>
            </a:avLst>
          </a:prstGeom>
          <a:noFill/>
          <a:ln w="3175" cap="rnd" cmpd="sng">
            <a:solidFill>
              <a:srgbClr val="000000"/>
            </a:solidFill>
            <a:prstDash val="sysDot"/>
            <a:headEnd type="none" w="med" len="med"/>
            <a:tailEnd type="none" w="med" len="med"/>
          </a:ln>
        </p:spPr>
        <p:txBody>
          <a:bodyPr wrap="none" anchor="ctr" anchorCtr="0"/>
          <a:p>
            <a:pPr lvl="0" algn="ctr" eaLnBrk="1" hangingPunct="1">
              <a:buNone/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032" name="Line 9"/>
          <p:cNvSpPr/>
          <p:nvPr/>
        </p:nvSpPr>
        <p:spPr>
          <a:xfrm>
            <a:off x="762000" y="1219200"/>
            <a:ext cx="7696200" cy="0"/>
          </a:xfrm>
          <a:prstGeom prst="line">
            <a:avLst/>
          </a:prstGeom>
          <a:ln w="3175" cap="rnd" cmpd="sng">
            <a:solidFill>
              <a:srgbClr val="000000"/>
            </a:solidFill>
            <a:prstDash val="sysDot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random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300" b="1">
          <a:solidFill>
            <a:srgbClr val="000066"/>
          </a:solidFill>
          <a:latin typeface="Arial Black" panose="020B0A040201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l"/>
        <a:defRPr sz="31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Ø"/>
        <a:defRPr sz="26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50000"/>
        <a:buChar char="•"/>
        <a:defRPr sz="22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50000"/>
        <a:buChar char="•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ctrTitle"/>
          </p:nvPr>
        </p:nvSpPr>
        <p:spPr>
          <a:xfrm>
            <a:off x="381000" y="1981200"/>
            <a:ext cx="8382000" cy="2266950"/>
          </a:xfrm>
          <a:ln/>
        </p:spPr>
        <p:txBody>
          <a:bodyPr vert="horz" wrap="square" lIns="91440" tIns="45720" rIns="91440" bIns="45720" anchor="ctr" anchorCtr="1"/>
          <a:p>
            <a:pPr eaLnBrk="1" hangingPunct="1">
              <a:buClrTx/>
              <a:buSzTx/>
              <a:buFontTx/>
            </a:pP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缺陷记录与测试评估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762000" y="762000"/>
            <a:ext cx="7772400" cy="136588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9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300" b="1">
                <a:solidFill>
                  <a:srgbClr val="000066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</a:pPr>
            <a:r>
              <a:rPr lang="zh-CN" altLang="en-US" sz="4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软件工程案例分析与实践</a:t>
            </a:r>
            <a:endParaRPr lang="zh-CN" altLang="en-US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测试活动概述</a:t>
            </a:r>
            <a:r>
              <a:rPr lang="en-US" altLang="zh-CN" dirty="0">
                <a:latin typeface="Arial" panose="020B0604020202020204" pitchFamily="34" charset="0"/>
              </a:rPr>
              <a:t>——</a:t>
            </a:r>
            <a:r>
              <a:rPr lang="zh-CN" altLang="en-US" dirty="0"/>
              <a:t>当前的活动</a:t>
            </a:r>
            <a:endParaRPr lang="zh-CN" altLang="en-US" dirty="0"/>
          </a:p>
        </p:txBody>
      </p:sp>
      <p:pic>
        <p:nvPicPr>
          <p:cNvPr id="4100" name="Picture 5" descr="wf_test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447800"/>
            <a:ext cx="7315200" cy="45323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1" name="AutoShape 6"/>
          <p:cNvSpPr/>
          <p:nvPr/>
        </p:nvSpPr>
        <p:spPr>
          <a:xfrm>
            <a:off x="7362825" y="1662113"/>
            <a:ext cx="533400" cy="304800"/>
          </a:xfrm>
          <a:prstGeom prst="homePlate">
            <a:avLst>
              <a:gd name="adj" fmla="val 43750"/>
            </a:avLst>
          </a:prstGeom>
          <a:solidFill>
            <a:srgbClr val="0000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l"/>
              <a:defRPr sz="31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/>
          </a:p>
        </p:txBody>
      </p:sp>
      <p:sp>
        <p:nvSpPr>
          <p:cNvPr id="4102" name="AutoShape 7"/>
          <p:cNvSpPr/>
          <p:nvPr/>
        </p:nvSpPr>
        <p:spPr>
          <a:xfrm>
            <a:off x="6234113" y="2938463"/>
            <a:ext cx="533400" cy="304800"/>
          </a:xfrm>
          <a:prstGeom prst="homePlate">
            <a:avLst>
              <a:gd name="adj" fmla="val 43750"/>
            </a:avLst>
          </a:prstGeom>
          <a:solidFill>
            <a:srgbClr val="0000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l"/>
              <a:defRPr sz="31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/>
          </a:p>
        </p:txBody>
      </p:sp>
      <p:graphicFrame>
        <p:nvGraphicFramePr>
          <p:cNvPr id="4103" name="Object 0"/>
          <p:cNvGraphicFramePr>
            <a:graphicFrameLocks noChangeAspect="1"/>
          </p:cNvGraphicFramePr>
          <p:nvPr>
            <p:ph idx="1"/>
          </p:nvPr>
        </p:nvGraphicFramePr>
        <p:xfrm>
          <a:off x="7667625" y="2533650"/>
          <a:ext cx="10668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734695" imgH="427990" progId="图像.文件">
                  <p:embed/>
                </p:oleObj>
              </mc:Choice>
              <mc:Fallback>
                <p:oleObj name="" r:id="rId2" imgW="734695" imgH="427990" progId="图像.文件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7667625" y="2533650"/>
                        <a:ext cx="1066800" cy="7413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4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643313"/>
            <a:ext cx="838200" cy="796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5" name="Line 13"/>
          <p:cNvSpPr/>
          <p:nvPr/>
        </p:nvSpPr>
        <p:spPr>
          <a:xfrm>
            <a:off x="6705600" y="3505200"/>
            <a:ext cx="3810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</p:sp>
      <p:sp>
        <p:nvSpPr>
          <p:cNvPr id="4106" name="Line 14"/>
          <p:cNvSpPr/>
          <p:nvPr/>
        </p:nvSpPr>
        <p:spPr>
          <a:xfrm>
            <a:off x="7772400" y="2286000"/>
            <a:ext cx="3048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灯片编号占位符 6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缺陷记录</a:t>
            </a:r>
            <a:r>
              <a:rPr lang="en-US" altLang="zh-CN" dirty="0">
                <a:latin typeface="Arial" panose="020B0604020202020204" pitchFamily="34" charset="0"/>
              </a:rPr>
              <a:t>——</a:t>
            </a:r>
            <a:r>
              <a:rPr lang="zh-CN" altLang="en-US" dirty="0"/>
              <a:t>格式</a:t>
            </a:r>
            <a:endParaRPr lang="zh-CN" altLang="en-US" dirty="0"/>
          </a:p>
        </p:txBody>
      </p:sp>
      <p:sp>
        <p:nvSpPr>
          <p:cNvPr id="5124" name="Rectangle 3"/>
          <p:cNvSpPr>
            <a:spLocks noGrp="1"/>
          </p:cNvSpPr>
          <p:nvPr>
            <p:ph type="body" sz="half"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bg2"/>
              </a:buClr>
              <a:buSzPct val="70000"/>
              <a:buFont typeface="Wingdings" panose="05000000000000000000" pitchFamily="2" charset="2"/>
            </a:pPr>
            <a:r>
              <a:rPr lang="zh-CN" altLang="en-US" sz="2700" dirty="0"/>
              <a:t>报告和跟踪测试执行过程中发现的缺陷</a:t>
            </a:r>
            <a:endParaRPr lang="zh-CN" altLang="en-US" sz="2700" dirty="0"/>
          </a:p>
        </p:txBody>
      </p:sp>
      <p:graphicFrame>
        <p:nvGraphicFramePr>
          <p:cNvPr id="452928" name="Group 320"/>
          <p:cNvGraphicFramePr>
            <a:graphicFrameLocks noGrp="1"/>
          </p:cNvGraphicFramePr>
          <p:nvPr>
            <p:ph sz="half" idx="1"/>
          </p:nvPr>
        </p:nvGraphicFramePr>
        <p:xfrm>
          <a:off x="381000" y="2362200"/>
          <a:ext cx="8382000" cy="3692525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447800"/>
                <a:gridCol w="1447800"/>
                <a:gridCol w="1371600"/>
                <a:gridCol w="1371600"/>
              </a:tblGrid>
              <a:tr h="39620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缺陷标识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用例标识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测试人员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缺陷等级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打开日期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目前状态</a:t>
                      </a:r>
                      <a:endParaRPr kumimoji="0" lang="zh-CN" alt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06">
                <a:tc gridSpan="6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概要（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Summary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96206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96206">
                <a:tc gridSpan="6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再现步骤（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Step to Reproduce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700980">
                <a:tc gridSpan="6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96206">
                <a:tc gridSpan="6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隔离（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Isolation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14310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缺陷记录</a:t>
            </a:r>
            <a:r>
              <a:rPr lang="en-US" altLang="zh-CN" dirty="0">
                <a:latin typeface="Arial" panose="020B0604020202020204" pitchFamily="34" charset="0"/>
              </a:rPr>
              <a:t>——</a:t>
            </a:r>
            <a:r>
              <a:rPr lang="zh-CN" altLang="en-US" dirty="0"/>
              <a:t>示例</a:t>
            </a:r>
            <a:endParaRPr lang="zh-CN" altLang="en-US" dirty="0"/>
          </a:p>
        </p:txBody>
      </p:sp>
      <p:graphicFrame>
        <p:nvGraphicFramePr>
          <p:cNvPr id="456769" name="Group 65"/>
          <p:cNvGraphicFramePr>
            <a:graphicFrameLocks noGrp="1"/>
          </p:cNvGraphicFramePr>
          <p:nvPr>
            <p:ph idx="1"/>
          </p:nvPr>
        </p:nvGraphicFramePr>
        <p:xfrm>
          <a:off x="381000" y="1447800"/>
          <a:ext cx="8458200" cy="4813300"/>
        </p:xfrm>
        <a:graphic>
          <a:graphicData uri="http://schemas.openxmlformats.org/drawingml/2006/table">
            <a:tbl>
              <a:tblPr/>
              <a:tblGrid>
                <a:gridCol w="1384300"/>
                <a:gridCol w="1384300"/>
                <a:gridCol w="1460500"/>
                <a:gridCol w="1460500"/>
                <a:gridCol w="1384300"/>
                <a:gridCol w="1384300"/>
              </a:tblGrid>
              <a:tr h="304800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缺陷标识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用例标识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测试人员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缺陷等级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打开日期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缺陷状态</a:t>
                      </a: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002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20060403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Open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 gridSpan="6"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概要（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Summary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04800">
                <a:tc gridSpan="6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Arial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Wingdings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和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Symbol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字体会破坏文件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4325">
                <a:tc gridSpan="6"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再现步骤（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Step to Reproduce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525588">
                <a:tc gridSpan="6"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、启动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SpeedyWriter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编辑器，然后创建新文件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、输入四行文本，重复输入“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The Quick fox jumps over the lazy brown dog”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、选中所有四行文本，然后选择字体下拉菜单，并选择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Arial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、所有文本被转换成控制符、数字和其他明显的随机二进制数据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、重复三次，结果都一样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1788">
                <a:tc gridSpan="6"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隔离（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Isolation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仿宋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276350">
                <a:tc gridSpan="6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7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0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5000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50000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粗略估计是格式问题，保存文件，关闭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SpeedyWriter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并重新打开文件，但是数据仍然被破坏。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 在改变字体前保存文件防止错误。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  只在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Windows98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发生，而不出现在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Solaris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Mac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或其它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Windows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系统中。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缺陷记录</a:t>
            </a:r>
            <a:r>
              <a:rPr lang="en-US" altLang="zh-CN" dirty="0">
                <a:latin typeface="Arial" panose="020B0604020202020204" pitchFamily="34" charset="0"/>
              </a:rPr>
              <a:t>——</a:t>
            </a:r>
            <a:r>
              <a:rPr lang="zh-CN" altLang="en-US" dirty="0"/>
              <a:t>缺陷等级</a:t>
            </a:r>
            <a:endParaRPr lang="zh-CN" altLang="en-US" dirty="0"/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ts val="1200"/>
              </a:spcBef>
            </a:pPr>
            <a:r>
              <a:rPr lang="en-US" altLang="zh-CN" dirty="0"/>
              <a:t>A</a:t>
            </a:r>
            <a:r>
              <a:rPr lang="zh-CN" altLang="en-US" dirty="0"/>
              <a:t>（关键）</a:t>
            </a:r>
            <a:endParaRPr lang="zh-CN" altLang="en-US" dirty="0"/>
          </a:p>
          <a:p>
            <a:pPr lvl="1" eaLnBrk="1" hangingPunct="1">
              <a:spcBef>
                <a:spcPts val="1200"/>
              </a:spcBef>
            </a:pPr>
            <a:r>
              <a:rPr lang="zh-CN" altLang="en-US" dirty="0"/>
              <a:t>严重影响系统运行</a:t>
            </a:r>
            <a:endParaRPr lang="zh-CN" altLang="en-US" dirty="0"/>
          </a:p>
          <a:p>
            <a:pPr eaLnBrk="1" hangingPunct="1">
              <a:spcBef>
                <a:spcPts val="1200"/>
              </a:spcBef>
            </a:pPr>
            <a:r>
              <a:rPr lang="en-US" altLang="zh-CN" dirty="0"/>
              <a:t>B</a:t>
            </a:r>
            <a:r>
              <a:rPr lang="zh-CN" altLang="en-US" dirty="0"/>
              <a:t>（高）</a:t>
            </a:r>
            <a:endParaRPr lang="zh-CN" altLang="en-US" dirty="0"/>
          </a:p>
          <a:p>
            <a:pPr lvl="1" eaLnBrk="1" hangingPunct="1">
              <a:spcBef>
                <a:spcPts val="1200"/>
              </a:spcBef>
            </a:pPr>
            <a:r>
              <a:rPr lang="zh-CN" altLang="en-US" dirty="0"/>
              <a:t>影响系统运行</a:t>
            </a:r>
            <a:endParaRPr lang="zh-CN" altLang="en-US" dirty="0"/>
          </a:p>
          <a:p>
            <a:pPr eaLnBrk="1" hangingPunct="1">
              <a:spcBef>
                <a:spcPts val="1200"/>
              </a:spcBef>
            </a:pPr>
            <a:r>
              <a:rPr lang="en-US" altLang="zh-CN" dirty="0"/>
              <a:t>C</a:t>
            </a:r>
            <a:r>
              <a:rPr lang="zh-CN" altLang="en-US" dirty="0"/>
              <a:t>（中）</a:t>
            </a:r>
            <a:endParaRPr lang="zh-CN" altLang="en-US" dirty="0"/>
          </a:p>
          <a:p>
            <a:pPr lvl="1" eaLnBrk="1" hangingPunct="1">
              <a:spcBef>
                <a:spcPts val="1200"/>
              </a:spcBef>
            </a:pPr>
            <a:r>
              <a:rPr lang="zh-CN" altLang="en-US" dirty="0"/>
              <a:t>不影响运行但必须修改</a:t>
            </a:r>
            <a:endParaRPr lang="zh-CN" altLang="en-US" dirty="0"/>
          </a:p>
          <a:p>
            <a:pPr eaLnBrk="1" hangingPunct="1">
              <a:spcBef>
                <a:spcPts val="1200"/>
              </a:spcBef>
            </a:pPr>
            <a:r>
              <a:rPr lang="en-US" altLang="zh-CN" dirty="0"/>
              <a:t>D</a:t>
            </a:r>
            <a:r>
              <a:rPr lang="zh-CN" altLang="en-US" dirty="0"/>
              <a:t>（低）</a:t>
            </a:r>
            <a:endParaRPr lang="zh-CN" altLang="en-US" dirty="0"/>
          </a:p>
          <a:p>
            <a:pPr lvl="1" eaLnBrk="1" hangingPunct="1">
              <a:spcBef>
                <a:spcPts val="1200"/>
              </a:spcBef>
            </a:pPr>
            <a:r>
              <a:rPr lang="zh-CN" altLang="en-US" dirty="0"/>
              <a:t>所提建议</a:t>
            </a:r>
            <a:endParaRPr lang="zh-CN" altLang="en-US" dirty="0"/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缺陷记录</a:t>
            </a:r>
            <a:r>
              <a:rPr lang="en-US" altLang="zh-CN" dirty="0">
                <a:latin typeface="Arial" panose="020B0604020202020204" pitchFamily="34" charset="0"/>
              </a:rPr>
              <a:t>——</a:t>
            </a:r>
            <a:r>
              <a:rPr lang="zh-CN" altLang="en-US" dirty="0"/>
              <a:t>缺陷状态</a:t>
            </a:r>
            <a:endParaRPr lang="zh-CN" altLang="en-US" dirty="0"/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ts val="1200"/>
              </a:spcBef>
            </a:pPr>
            <a:r>
              <a:rPr lang="zh-CN" altLang="en-US" dirty="0"/>
              <a:t>打开（</a:t>
            </a:r>
            <a:r>
              <a:rPr lang="en-US" altLang="zh-CN" dirty="0"/>
              <a:t>open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spcBef>
                <a:spcPts val="1200"/>
              </a:spcBef>
            </a:pPr>
            <a:r>
              <a:rPr lang="zh-CN" altLang="en-US" dirty="0"/>
              <a:t>测试人员发布错误</a:t>
            </a:r>
            <a:endParaRPr lang="zh-CN" altLang="en-US" dirty="0"/>
          </a:p>
          <a:p>
            <a:pPr eaLnBrk="1" hangingPunct="1">
              <a:spcBef>
                <a:spcPts val="1200"/>
              </a:spcBef>
            </a:pPr>
            <a:r>
              <a:rPr lang="zh-CN" altLang="en-US" dirty="0"/>
              <a:t>分配（</a:t>
            </a:r>
            <a:r>
              <a:rPr lang="en-US" altLang="zh-CN" dirty="0"/>
              <a:t>assign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spcBef>
                <a:spcPts val="1200"/>
              </a:spcBef>
            </a:pPr>
            <a:r>
              <a:rPr lang="zh-CN" altLang="en-US" dirty="0"/>
              <a:t>将缺陷分配给开发人员，修复缺陷</a:t>
            </a:r>
            <a:endParaRPr lang="zh-CN" altLang="en-US" dirty="0"/>
          </a:p>
          <a:p>
            <a:pPr eaLnBrk="1" hangingPunct="1">
              <a:spcBef>
                <a:spcPts val="1200"/>
              </a:spcBef>
            </a:pPr>
            <a:r>
              <a:rPr lang="zh-CN" altLang="en-US" dirty="0"/>
              <a:t>测试（</a:t>
            </a:r>
            <a:r>
              <a:rPr lang="en-US" altLang="zh-CN" dirty="0"/>
              <a:t>test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spcBef>
                <a:spcPts val="1200"/>
              </a:spcBef>
            </a:pPr>
            <a:r>
              <a:rPr lang="zh-CN" altLang="en-US" dirty="0"/>
              <a:t>修复缺陷以后，等待测试人员确认</a:t>
            </a:r>
            <a:endParaRPr lang="zh-CN" altLang="en-US" dirty="0"/>
          </a:p>
          <a:p>
            <a:pPr eaLnBrk="1" hangingPunct="1">
              <a:spcBef>
                <a:spcPts val="1200"/>
              </a:spcBef>
            </a:pPr>
            <a:r>
              <a:rPr lang="zh-CN" altLang="en-US" dirty="0"/>
              <a:t>关闭（</a:t>
            </a:r>
            <a:r>
              <a:rPr lang="en-US" altLang="zh-CN" dirty="0"/>
              <a:t>close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spcBef>
                <a:spcPts val="1200"/>
              </a:spcBef>
            </a:pPr>
            <a:r>
              <a:rPr lang="zh-CN" altLang="en-US" dirty="0"/>
              <a:t>缺陷修复后通过测试</a:t>
            </a:r>
            <a:endParaRPr lang="zh-CN" altLang="en-US" dirty="0"/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测试评估摘要</a:t>
            </a:r>
            <a:r>
              <a:rPr lang="en-US" altLang="zh-CN" dirty="0">
                <a:latin typeface="Arial" panose="020B0604020202020204" pitchFamily="34" charset="0"/>
              </a:rPr>
              <a:t>——</a:t>
            </a:r>
            <a:r>
              <a:rPr lang="zh-CN" altLang="en-US" dirty="0"/>
              <a:t>格式</a:t>
            </a:r>
            <a:endParaRPr lang="zh-CN" altLang="en-US"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9530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000" dirty="0"/>
              <a:t>1  </a:t>
            </a:r>
            <a:r>
              <a:rPr lang="zh-CN" altLang="en-US" sz="2000" dirty="0"/>
              <a:t>简介</a:t>
            </a:r>
            <a:endParaRPr lang="zh-CN" altLang="en-US" sz="2000" dirty="0"/>
          </a:p>
          <a:p>
            <a:pPr lvl="1" eaLnBrk="1" hangingPunct="1"/>
            <a:r>
              <a:rPr lang="zh-CN" altLang="en-US" sz="1800" dirty="0"/>
              <a:t>提供整个文档的概述。它应包括此测试评估摘要的目的、范围、定义、首字母缩写词、缩略语、参考资料和概述。</a:t>
            </a:r>
            <a:endParaRPr lang="zh-CN" altLang="en-US" sz="1800" dirty="0"/>
          </a:p>
          <a:p>
            <a:pPr eaLnBrk="1" hangingPunct="1"/>
            <a:r>
              <a:rPr lang="en-US" altLang="zh-CN" sz="2000" dirty="0"/>
              <a:t>2  </a:t>
            </a:r>
            <a:r>
              <a:rPr lang="zh-CN" altLang="en-US" sz="2000" dirty="0"/>
              <a:t>测试结果摘要</a:t>
            </a:r>
            <a:endParaRPr lang="zh-CN" altLang="en-US" sz="2000" dirty="0"/>
          </a:p>
          <a:p>
            <a:pPr lvl="1" eaLnBrk="1" hangingPunct="1"/>
            <a:r>
              <a:rPr lang="zh-CN" altLang="en-US" sz="1800" dirty="0"/>
              <a:t>简要地总结测试的结果。</a:t>
            </a:r>
            <a:endParaRPr lang="zh-CN" altLang="en-US" sz="1800" dirty="0"/>
          </a:p>
          <a:p>
            <a:pPr eaLnBrk="1" hangingPunct="1"/>
            <a:r>
              <a:rPr lang="en-US" altLang="zh-CN" sz="2000" dirty="0"/>
              <a:t>3  </a:t>
            </a:r>
            <a:r>
              <a:rPr lang="zh-CN" altLang="en-US" sz="2000" dirty="0"/>
              <a:t>基于需求的测试覆盖</a:t>
            </a:r>
            <a:endParaRPr lang="zh-CN" altLang="en-US" sz="2000" dirty="0"/>
          </a:p>
          <a:p>
            <a:pPr lvl="1" eaLnBrk="1" hangingPunct="1"/>
            <a:r>
              <a:rPr lang="zh-CN" altLang="en-US" sz="1800" dirty="0"/>
              <a:t>对于您已选择使用的各种评测，指出其结果。与以前的结果进行比较，并讨论发展趋势。</a:t>
            </a:r>
            <a:endParaRPr lang="zh-CN" altLang="en-US" sz="1800" dirty="0"/>
          </a:p>
          <a:p>
            <a:pPr eaLnBrk="1" hangingPunct="1"/>
            <a:r>
              <a:rPr lang="en-US" altLang="zh-CN" sz="2000" dirty="0"/>
              <a:t>4  </a:t>
            </a:r>
            <a:r>
              <a:rPr lang="zh-CN" altLang="en-US" sz="2000" dirty="0"/>
              <a:t>基于代码的测试覆盖</a:t>
            </a:r>
            <a:endParaRPr lang="zh-CN" altLang="en-US" sz="2000" dirty="0"/>
          </a:p>
          <a:p>
            <a:pPr lvl="1" eaLnBrk="1" hangingPunct="1"/>
            <a:r>
              <a:rPr lang="zh-CN" altLang="en-US" sz="1800" dirty="0"/>
              <a:t>对于您已选择使用的各种评测，指出其结果。与以前的结果进行比较，并讨论发展趋势。</a:t>
            </a:r>
            <a:endParaRPr lang="zh-CN" altLang="en-US" sz="1800" dirty="0"/>
          </a:p>
          <a:p>
            <a:pPr eaLnBrk="1" hangingPunct="1"/>
            <a:r>
              <a:rPr lang="en-US" altLang="zh-CN" sz="2000" dirty="0"/>
              <a:t>5  </a:t>
            </a:r>
            <a:r>
              <a:rPr lang="zh-CN" altLang="en-US" sz="2000" dirty="0"/>
              <a:t>建议的措施</a:t>
            </a:r>
            <a:endParaRPr lang="zh-CN" altLang="en-US" sz="2000" dirty="0"/>
          </a:p>
          <a:p>
            <a:pPr lvl="1" eaLnBrk="1" hangingPunct="1"/>
            <a:r>
              <a:rPr lang="zh-CN" altLang="en-US" sz="1800" dirty="0"/>
              <a:t>根据对测试结果和主要测试评测结果所进行的评估，建议任何可取的措施。</a:t>
            </a:r>
            <a:endParaRPr lang="zh-CN" altLang="en-US" sz="1800" dirty="0"/>
          </a:p>
          <a:p>
            <a:pPr eaLnBrk="1" hangingPunct="1"/>
            <a:r>
              <a:rPr lang="en-US" altLang="zh-CN" sz="2000" dirty="0"/>
              <a:t>6  </a:t>
            </a:r>
            <a:r>
              <a:rPr lang="zh-CN" altLang="en-US" sz="2000" dirty="0"/>
              <a:t>图</a:t>
            </a:r>
            <a:endParaRPr lang="zh-CN" altLang="en-US" sz="2000" dirty="0"/>
          </a:p>
          <a:p>
            <a:pPr lvl="1" eaLnBrk="1" hangingPunct="1"/>
            <a:r>
              <a:rPr lang="zh-CN" altLang="en-US" sz="1800" dirty="0"/>
              <a:t>提供测试结果或主要测试评测结果的所有图形表示。</a:t>
            </a:r>
            <a:endParaRPr lang="zh-CN" altLang="en-US" sz="1800" dirty="0"/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测试评估摘要</a:t>
            </a:r>
            <a:r>
              <a:rPr lang="en-US" altLang="zh-CN" dirty="0">
                <a:latin typeface="Arial" panose="020B0604020202020204" pitchFamily="34" charset="0"/>
              </a:rPr>
              <a:t>——</a:t>
            </a:r>
            <a:r>
              <a:rPr lang="zh-CN" altLang="en-US" dirty="0"/>
              <a:t>基于需求的测试覆盖 </a:t>
            </a:r>
            <a:endParaRPr lang="zh-CN" altLang="en-US" dirty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295400"/>
            <a:ext cx="7879715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1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已执行的测试覆盖 </a:t>
            </a:r>
            <a:r>
              <a:rPr kumimoji="0" lang="en-US" altLang="zh-CN" sz="31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31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Tx</a:t>
            </a:r>
            <a:r>
              <a:rPr kumimoji="0" lang="en-US" altLang="zh-CN" sz="31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/ </a:t>
            </a:r>
            <a:r>
              <a:rPr kumimoji="0" lang="en-US" altLang="zh-CN" sz="31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RfT</a:t>
            </a:r>
            <a:r>
              <a:rPr kumimoji="0" lang="zh-CN" altLang="en-US" sz="31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，其中：</a:t>
            </a:r>
            <a:endParaRPr kumimoji="0" lang="zh-CN" altLang="en-US" sz="31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Tx</a:t>
            </a: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是已执行的</a:t>
            </a:r>
            <a:r>
              <a:rPr lang="zh-CN" altLang="en-US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测试用例</a:t>
            </a:r>
            <a:r>
              <a:rPr kumimoji="0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数</a:t>
            </a:r>
            <a:endParaRPr kumimoji="0" lang="zh-CN" altLang="en-US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RfT</a:t>
            </a: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是测试用例的总数。</a:t>
            </a:r>
            <a:endParaRPr kumimoji="0" lang="zh-CN" altLang="en-US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1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1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成功的测试覆盖 </a:t>
            </a:r>
            <a:r>
              <a:rPr kumimoji="0" lang="en-US" altLang="zh-CN" sz="31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31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Ts</a:t>
            </a:r>
            <a:r>
              <a:rPr kumimoji="0" lang="en-US" altLang="zh-CN" sz="31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/ </a:t>
            </a:r>
            <a:r>
              <a:rPr kumimoji="0" lang="en-US" altLang="zh-CN" sz="31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RfT</a:t>
            </a:r>
            <a:r>
              <a:rPr kumimoji="0" lang="zh-CN" altLang="en-US" sz="31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，其中：</a:t>
            </a:r>
            <a:endParaRPr kumimoji="0" lang="zh-CN" altLang="en-US" sz="31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Ts</a:t>
            </a: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是</a:t>
            </a:r>
            <a:r>
              <a:rPr lang="zh-CN" altLang="en-US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已执行的、</a:t>
            </a:r>
            <a:r>
              <a:rPr kumimoji="0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完全成功、没有缺陷的测试用例数。</a:t>
            </a:r>
            <a:endParaRPr kumimoji="0" lang="zh-CN" altLang="en-US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RfT</a:t>
            </a: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是测试用例的总数。</a:t>
            </a:r>
            <a:endParaRPr kumimoji="0" lang="zh-CN" altLang="en-US" sz="2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测试评估摘要</a:t>
            </a:r>
            <a:r>
              <a:rPr lang="en-US" altLang="zh-CN" dirty="0">
                <a:latin typeface="Arial" panose="020B0604020202020204" pitchFamily="34" charset="0"/>
              </a:rPr>
              <a:t>——</a:t>
            </a:r>
            <a:r>
              <a:rPr lang="zh-CN" altLang="en-US" dirty="0"/>
              <a:t>图</a:t>
            </a:r>
            <a:endParaRPr lang="zh-CN" altLang="en-US" dirty="0"/>
          </a:p>
        </p:txBody>
      </p:sp>
      <p:sp>
        <p:nvSpPr>
          <p:cNvPr id="11268" name="Rectangle 3"/>
          <p:cNvSpPr>
            <a:spLocks noGrp="1"/>
          </p:cNvSpPr>
          <p:nvPr>
            <p:ph idx="1"/>
          </p:nvPr>
        </p:nvSpPr>
        <p:spPr>
          <a:xfrm>
            <a:off x="762000" y="1295400"/>
            <a:ext cx="8004175" cy="5105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500"/>
              </a:spcAft>
            </a:pPr>
            <a:r>
              <a:rPr lang="zh-CN" altLang="en-US" sz="2700" dirty="0"/>
              <a:t>缺陷分布（密度）报告</a:t>
            </a:r>
            <a:endParaRPr lang="zh-CN" altLang="en-US" sz="2700" dirty="0"/>
          </a:p>
          <a:p>
            <a:pPr lvl="1" eaLnBrk="1" hangingPunct="1">
              <a:lnSpc>
                <a:spcPct val="125000"/>
              </a:lnSpc>
              <a:spcBef>
                <a:spcPts val="1000"/>
              </a:spcBef>
              <a:spcAft>
                <a:spcPts val="500"/>
              </a:spcAft>
            </a:pPr>
            <a:r>
              <a:rPr lang="zh-CN" altLang="en-US" sz="2200" dirty="0"/>
              <a:t>允许将缺陷计数作为一个或多个缺陷参数的函数来显示。 </a:t>
            </a:r>
            <a:endParaRPr lang="zh-CN" altLang="en-US" sz="2200" dirty="0"/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500"/>
              </a:spcAft>
            </a:pPr>
            <a:r>
              <a:rPr lang="zh-CN" altLang="en-US" sz="2700" dirty="0"/>
              <a:t>缺陷龄期报告</a:t>
            </a:r>
            <a:endParaRPr lang="zh-CN" altLang="en-US" sz="2700" dirty="0"/>
          </a:p>
          <a:p>
            <a:pPr lvl="1" eaLnBrk="1" hangingPunct="1">
              <a:lnSpc>
                <a:spcPct val="125000"/>
              </a:lnSpc>
              <a:spcBef>
                <a:spcPts val="1000"/>
              </a:spcBef>
              <a:spcAft>
                <a:spcPts val="500"/>
              </a:spcAft>
            </a:pPr>
            <a:r>
              <a:rPr lang="zh-CN" altLang="en-US" sz="2200" dirty="0"/>
              <a:t>是一种特殊类型的缺陷分布报告。 缺陷龄期报告显示缺陷处于特定状态下的时间长短。 </a:t>
            </a:r>
            <a:endParaRPr lang="zh-CN" altLang="en-US" sz="2200" dirty="0"/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500"/>
              </a:spcAft>
            </a:pPr>
            <a:r>
              <a:rPr lang="zh-CN" altLang="en-US" sz="2700" dirty="0"/>
              <a:t>缺陷趋势报告</a:t>
            </a:r>
            <a:endParaRPr lang="zh-CN" altLang="en-US" sz="2700" dirty="0"/>
          </a:p>
          <a:p>
            <a:pPr lvl="1" eaLnBrk="1" hangingPunct="1">
              <a:lnSpc>
                <a:spcPct val="125000"/>
              </a:lnSpc>
              <a:spcBef>
                <a:spcPts val="1000"/>
              </a:spcBef>
              <a:spcAft>
                <a:spcPts val="500"/>
              </a:spcAft>
            </a:pPr>
            <a:r>
              <a:rPr lang="zh-CN" altLang="en-US" sz="2200" dirty="0"/>
              <a:t>按状态（新的、已打开的或关闭的）将缺陷计数作为时间的函数显示。趋势报告可以是累计的，也可以是非累计的。 </a:t>
            </a:r>
            <a:endParaRPr lang="zh-CN" altLang="en-US" sz="2200" dirty="0"/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6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测试评估摘要</a:t>
            </a:r>
            <a:r>
              <a:rPr lang="en-US" altLang="zh-CN" dirty="0">
                <a:latin typeface="Arial" panose="020B0604020202020204" pitchFamily="34" charset="0"/>
              </a:rPr>
              <a:t>——</a:t>
            </a:r>
            <a:r>
              <a:rPr lang="zh-CN" altLang="en-US" dirty="0"/>
              <a:t>缺陷密度报告</a:t>
            </a:r>
            <a:endParaRPr lang="zh-CN" altLang="en-US" dirty="0"/>
          </a:p>
        </p:txBody>
      </p:sp>
      <p:sp>
        <p:nvSpPr>
          <p:cNvPr id="12292" name="Rectangle 4"/>
          <p:cNvSpPr>
            <a:spLocks noGrp="1"/>
          </p:cNvSpPr>
          <p:nvPr>
            <p:ph type="body" sz="half" idx="1"/>
          </p:nvPr>
        </p:nvSpPr>
        <p:spPr>
          <a:xfrm>
            <a:off x="762000" y="1295400"/>
            <a:ext cx="7696200" cy="1219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bg2"/>
              </a:buClr>
              <a:buSzPct val="70000"/>
              <a:buFont typeface="Wingdings" panose="05000000000000000000" pitchFamily="2" charset="2"/>
            </a:pPr>
            <a:endParaRPr lang="zh-CN" altLang="zh-CN" sz="2700" dirty="0"/>
          </a:p>
        </p:txBody>
      </p:sp>
      <p:pic>
        <p:nvPicPr>
          <p:cNvPr id="12293" name="Picture 7" descr="keymeas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90800"/>
            <a:ext cx="5867400" cy="3616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4" name="Rectangle 8"/>
          <p:cNvSpPr/>
          <p:nvPr/>
        </p:nvSpPr>
        <p:spPr>
          <a:xfrm>
            <a:off x="4038600" y="5867400"/>
            <a:ext cx="1066800" cy="381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Char char="l"/>
              <a:defRPr sz="31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/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6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测试评估摘要</a:t>
            </a:r>
            <a:r>
              <a:rPr lang="en-US" altLang="zh-CN" dirty="0">
                <a:latin typeface="Arial" panose="020B0604020202020204" pitchFamily="34" charset="0"/>
              </a:rPr>
              <a:t>——</a:t>
            </a:r>
            <a:r>
              <a:rPr lang="zh-CN" altLang="en-US" dirty="0"/>
              <a:t>缺陷趋势报告 </a:t>
            </a:r>
            <a:endParaRPr lang="zh-CN" altLang="en-US" dirty="0"/>
          </a:p>
        </p:txBody>
      </p:sp>
      <p:sp>
        <p:nvSpPr>
          <p:cNvPr id="13316" name="Rectangle 4"/>
          <p:cNvSpPr>
            <a:spLocks noGrp="1"/>
          </p:cNvSpPr>
          <p:nvPr>
            <p:ph type="body" sz="half" idx="1"/>
          </p:nvPr>
        </p:nvSpPr>
        <p:spPr>
          <a:xfrm>
            <a:off x="762000" y="1295400"/>
            <a:ext cx="7696200" cy="68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bg2"/>
              </a:buClr>
              <a:buSzPct val="70000"/>
              <a:buFont typeface="Wingdings" panose="05000000000000000000" pitchFamily="2" charset="2"/>
            </a:pPr>
            <a:endParaRPr lang="zh-CN" altLang="zh-CN" sz="2700" dirty="0"/>
          </a:p>
        </p:txBody>
      </p:sp>
      <p:pic>
        <p:nvPicPr>
          <p:cNvPr id="13317" name="Picture 7" descr="keymeas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362200"/>
            <a:ext cx="7315200" cy="3587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Studio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Studio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Studio 1">
        <a:dk1>
          <a:srgbClr val="000000"/>
        </a:dk1>
        <a:lt1>
          <a:srgbClr val="FFFFFF"/>
        </a:lt1>
        <a:dk2>
          <a:srgbClr val="3366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2">
        <a:dk1>
          <a:srgbClr val="000000"/>
        </a:dk1>
        <a:lt1>
          <a:srgbClr val="FFFFFF"/>
        </a:lt1>
        <a:dk2>
          <a:srgbClr val="3732A0"/>
        </a:dk2>
        <a:lt2>
          <a:srgbClr val="666699"/>
        </a:lt2>
        <a:accent1>
          <a:srgbClr val="CCCCFF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8A8A"/>
        </a:accent6>
        <a:hlink>
          <a:srgbClr val="3366CC"/>
        </a:hlink>
        <a:folHlink>
          <a:srgbClr val="9094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3">
        <a:dk1>
          <a:srgbClr val="000000"/>
        </a:dk1>
        <a:lt1>
          <a:srgbClr val="FFFFFF"/>
        </a:lt1>
        <a:dk2>
          <a:srgbClr val="CD0505"/>
        </a:dk2>
        <a:lt2>
          <a:srgbClr val="5F5F5F"/>
        </a:lt2>
        <a:accent1>
          <a:srgbClr val="D2D5DE"/>
        </a:accent1>
        <a:accent2>
          <a:srgbClr val="D55757"/>
        </a:accent2>
        <a:accent3>
          <a:srgbClr val="FFFFFF"/>
        </a:accent3>
        <a:accent4>
          <a:srgbClr val="000000"/>
        </a:accent4>
        <a:accent5>
          <a:srgbClr val="E5E7EC"/>
        </a:accent5>
        <a:accent6>
          <a:srgbClr val="C14E4E"/>
        </a:accent6>
        <a:hlink>
          <a:srgbClr val="F42D1E"/>
        </a:hlink>
        <a:folHlink>
          <a:srgbClr val="7C84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4">
        <a:dk1>
          <a:srgbClr val="000000"/>
        </a:dk1>
        <a:lt1>
          <a:srgbClr val="FFFFFF"/>
        </a:lt1>
        <a:dk2>
          <a:srgbClr val="551A07"/>
        </a:dk2>
        <a:lt2>
          <a:srgbClr val="CC3300"/>
        </a:lt2>
        <a:accent1>
          <a:srgbClr val="F4B400"/>
        </a:accent1>
        <a:accent2>
          <a:srgbClr val="993300"/>
        </a:accent2>
        <a:accent3>
          <a:srgbClr val="FFFFFF"/>
        </a:accent3>
        <a:accent4>
          <a:srgbClr val="000000"/>
        </a:accent4>
        <a:accent5>
          <a:srgbClr val="F8D6AA"/>
        </a:accent5>
        <a:accent6>
          <a:srgbClr val="8A2D00"/>
        </a:accent6>
        <a:hlink>
          <a:srgbClr val="FF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5">
        <a:dk1>
          <a:srgbClr val="000000"/>
        </a:dk1>
        <a:lt1>
          <a:srgbClr val="FFFFFF"/>
        </a:lt1>
        <a:dk2>
          <a:srgbClr val="FF0000"/>
        </a:dk2>
        <a:lt2>
          <a:srgbClr val="FFCC00"/>
        </a:lt2>
        <a:accent1>
          <a:srgbClr val="66CC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008A00"/>
        </a:accent6>
        <a:hlink>
          <a:srgbClr val="FF33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6">
        <a:dk1>
          <a:srgbClr val="666633"/>
        </a:dk1>
        <a:lt1>
          <a:srgbClr val="FFFFFF"/>
        </a:lt1>
        <a:dk2>
          <a:srgbClr val="000000"/>
        </a:dk2>
        <a:lt2>
          <a:srgbClr val="CC3300"/>
        </a:lt2>
        <a:accent1>
          <a:srgbClr val="8080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C0C0AA"/>
        </a:accent5>
        <a:accent6>
          <a:srgbClr val="E78A00"/>
        </a:accent6>
        <a:hlink>
          <a:srgbClr val="CC6600"/>
        </a:hlink>
        <a:folHlink>
          <a:srgbClr val="434B1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7">
        <a:dk1>
          <a:srgbClr val="766997"/>
        </a:dk1>
        <a:lt1>
          <a:srgbClr val="FFFFFF"/>
        </a:lt1>
        <a:dk2>
          <a:srgbClr val="530901"/>
        </a:dk2>
        <a:lt2>
          <a:srgbClr val="FFFFFF"/>
        </a:lt2>
        <a:accent1>
          <a:srgbClr val="FF3300"/>
        </a:accent1>
        <a:accent2>
          <a:srgbClr val="CC6600"/>
        </a:accent2>
        <a:accent3>
          <a:srgbClr val="B3AAAA"/>
        </a:accent3>
        <a:accent4>
          <a:srgbClr val="DADADA"/>
        </a:accent4>
        <a:accent5>
          <a:srgbClr val="FFADAA"/>
        </a:accent5>
        <a:accent6>
          <a:srgbClr val="B95C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8">
        <a:dk1>
          <a:srgbClr val="666699"/>
        </a:dk1>
        <a:lt1>
          <a:srgbClr val="FFFFFF"/>
        </a:lt1>
        <a:dk2>
          <a:srgbClr val="4C004C"/>
        </a:dk2>
        <a:lt2>
          <a:srgbClr val="FFFFFF"/>
        </a:lt2>
        <a:accent1>
          <a:srgbClr val="0099CC"/>
        </a:accent1>
        <a:accent2>
          <a:srgbClr val="993366"/>
        </a:accent2>
        <a:accent3>
          <a:srgbClr val="B2AAB2"/>
        </a:accent3>
        <a:accent4>
          <a:srgbClr val="DADADA"/>
        </a:accent4>
        <a:accent5>
          <a:srgbClr val="AACAE2"/>
        </a:accent5>
        <a:accent6>
          <a:srgbClr val="8A2D5C"/>
        </a:accent6>
        <a:hlink>
          <a:srgbClr val="99CC00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9">
        <a:dk1>
          <a:srgbClr val="565682"/>
        </a:dk1>
        <a:lt1>
          <a:srgbClr val="FFFFFF"/>
        </a:lt1>
        <a:dk2>
          <a:srgbClr val="1E1551"/>
        </a:dk2>
        <a:lt2>
          <a:srgbClr val="CCFFFF"/>
        </a:lt2>
        <a:accent1>
          <a:srgbClr val="33CCCC"/>
        </a:accent1>
        <a:accent2>
          <a:srgbClr val="009999"/>
        </a:accent2>
        <a:accent3>
          <a:srgbClr val="ABAAB3"/>
        </a:accent3>
        <a:accent4>
          <a:srgbClr val="DADADA"/>
        </a:accent4>
        <a:accent5>
          <a:srgbClr val="ADE2E2"/>
        </a:accent5>
        <a:accent6>
          <a:srgbClr val="008A8A"/>
        </a:accent6>
        <a:hlink>
          <a:srgbClr val="FF9900"/>
        </a:hlink>
        <a:folHlink>
          <a:srgbClr val="00598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10">
        <a:dk1>
          <a:srgbClr val="CCCC99"/>
        </a:dk1>
        <a:lt1>
          <a:srgbClr val="FFFFFF"/>
        </a:lt1>
        <a:dk2>
          <a:srgbClr val="2E5D5C"/>
        </a:dk2>
        <a:lt2>
          <a:srgbClr val="FFFFFF"/>
        </a:lt2>
        <a:accent1>
          <a:srgbClr val="0099CC"/>
        </a:accent1>
        <a:accent2>
          <a:srgbClr val="D6E0E0"/>
        </a:accent2>
        <a:accent3>
          <a:srgbClr val="ADB6B5"/>
        </a:accent3>
        <a:accent4>
          <a:srgbClr val="DADADA"/>
        </a:accent4>
        <a:accent5>
          <a:srgbClr val="AACAE2"/>
        </a:accent5>
        <a:accent6>
          <a:srgbClr val="C2CBCB"/>
        </a:accent6>
        <a:hlink>
          <a:srgbClr val="CCCC99"/>
        </a:hlink>
        <a:folHlink>
          <a:srgbClr val="428A8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Studio</Template>
  <TotalTime>0</TotalTime>
  <Words>3334</Words>
  <Application>WPS 演示</Application>
  <PresentationFormat>全屏显示(4:3)</PresentationFormat>
  <Paragraphs>290</Paragraphs>
  <Slides>11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Arial Black</vt:lpstr>
      <vt:lpstr>Times New Roman</vt:lpstr>
      <vt:lpstr>仿宋_GB2312</vt:lpstr>
      <vt:lpstr>仿宋</vt:lpstr>
      <vt:lpstr>微软雅黑</vt:lpstr>
      <vt:lpstr>Arial Unicode MS</vt:lpstr>
      <vt:lpstr>Wingdings</vt:lpstr>
      <vt:lpstr>仿宋_GB2312</vt:lpstr>
      <vt:lpstr>方正仿宋_GB2312</vt:lpstr>
      <vt:lpstr>Studio</vt:lpstr>
      <vt:lpstr>图像.文件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Fancy</cp:lastModifiedBy>
  <cp:revision>369</cp:revision>
  <dcterms:created xsi:type="dcterms:W3CDTF">2026-08-17T12:28:50Z</dcterms:created>
  <dcterms:modified xsi:type="dcterms:W3CDTF">2026-08-17T12:31:28Z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C4D9994F2A8F474DBA396014F2E974B2_12</vt:lpwstr>
  </property>
  <property fmtid="{D5CDD505-2E9C-101B-9397-08002B2CF9AE}" pid="4" name="KSOProductBuildVer">
    <vt:lpwstr>2052-12.1.0.28043</vt:lpwstr>
  </property>
</Properties>
</file>